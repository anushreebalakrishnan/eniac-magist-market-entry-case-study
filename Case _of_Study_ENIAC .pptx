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  <p:sldMasterId id="2147483683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y="5143500" cx="9144000"/>
  <p:notesSz cx="6858000" cy="9144000"/>
  <p:embeddedFontLs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14D83C-1870-4E75-8305-DD5AF184B6D3}">
  <a:tblStyle styleId="{B914D83C-1870-4E75-8305-DD5AF184B6D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font" Target="fonts/Roboto-bold.fntdata"/><Relationship Id="rId14" Type="http://schemas.openxmlformats.org/officeDocument/2006/relationships/slide" Target="slides/slide6.xml"/><Relationship Id="rId36" Type="http://schemas.openxmlformats.org/officeDocument/2006/relationships/font" Target="fonts/Roboto-regular.fntdata"/><Relationship Id="rId17" Type="http://schemas.openxmlformats.org/officeDocument/2006/relationships/slide" Target="slides/slide9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8.xml"/><Relationship Id="rId38" Type="http://schemas.openxmlformats.org/officeDocument/2006/relationships/font" Target="fonts/Roboto-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af608e87c_2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eaf608e87c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eaf608e87c_2_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eaf608e87c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dk1"/>
                </a:solidFill>
              </a:rPr>
              <a:t>Magist:</a:t>
            </a:r>
            <a:r>
              <a:rPr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service company that offers a centralized order management system to connect the Brazilian market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af608e87c_2_9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eaf608e87c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af608e87c_2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eaf608e87c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>
                <a:solidFill>
                  <a:schemeClr val="dk1"/>
                </a:solidFill>
              </a:rPr>
              <a:t>Magist:</a:t>
            </a:r>
            <a:r>
              <a:rPr lang="es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service company that offers a centralized order management system to connect the Brazilian market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200">
                <a:solidFill>
                  <a:schemeClr val="dk1"/>
                </a:solidFill>
              </a:rPr>
              <a:t>Magist provides after-sales services such as stock and warehouse management, product shipment, and customer service related to the shipment</a:t>
            </a:r>
            <a:r>
              <a:rPr lang="es">
                <a:solidFill>
                  <a:schemeClr val="dk1"/>
                </a:solidFill>
              </a:rPr>
              <a:t> </a:t>
            </a: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Magist </a:t>
            </a:r>
            <a:r>
              <a:rPr lang="es" sz="1200">
                <a:solidFill>
                  <a:schemeClr val="dk1"/>
                </a:solidFill>
              </a:rPr>
              <a:t>has signed advantageous contracts with the marketplaces and with the Post Office, thus reducing the cost of fees and, most importantly, the bureaucracy involved in getting things started.</a:t>
            </a:r>
            <a:r>
              <a:rPr lang="es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af608e87c_2_1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eaf608e87c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af608e87c_2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eaf608e87c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af608e87c_2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g3eaf608e87c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af608e87c_2_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eaf608e87c_2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af608e87c_2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eaf608e87c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eaf608e87c_2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eaf608e87c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af8405502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eaf840550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af8405502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eaf8405502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af8405502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eaf8405502_3_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eba7c7842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g3eba7c784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eba7c78425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g3eba7c7842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af8405502_3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eaf8405502_3_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af8405502_3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eaf8405502_3_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eaf8405502_3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eaf8405502_3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af8405502_3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eaf8405502_3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eaf8405502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eaf8405502_3_10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eaf8405502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eaf8405502_3_1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af8405502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eaf8405502_3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eaf8405502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eaf84055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eaf8405502_3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eaf8405502_3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af8405502_3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eaf8405502_3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af8405502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eaf8405502_3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af8405502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af8405502_3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7" name="Google Shape;87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15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5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0" name="Google Shape;100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7" name="Google Shape;107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1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8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116" name="Google Shape;116;p18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8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8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7" name="Google Shape;127;p19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2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35" name="Google Shape;135;p2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1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47" name="Google Shape;147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26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66" name="Google Shape;166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6" name="Google Shape;186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1" name="Google Shape;191;p30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3" name="Google Shape;193;p30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33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209" name="Google Shape;209;p33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10" name="Google Shape;210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5" name="Google Shape;215;p34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35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3" name="Google Shape;223;p3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3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9" name="Google Shape;229;p3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3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1" name="Google Shape;231;p3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slide" Target="/ppt/slides/slide15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slide" Target="/ppt/slides/slide2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slide" Target="/ppt/slides/slide4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slide" Target="/ppt/slides/slide6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ctrTitle"/>
          </p:nvPr>
        </p:nvSpPr>
        <p:spPr>
          <a:xfrm>
            <a:off x="1334236" y="1632813"/>
            <a:ext cx="608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s"/>
              <a:t>Brazil's Market Entering</a:t>
            </a:r>
            <a:endParaRPr b="1"/>
          </a:p>
        </p:txBody>
      </p:sp>
      <p:sp>
        <p:nvSpPr>
          <p:cNvPr id="237" name="Google Shape;237;p37"/>
          <p:cNvSpPr txBox="1"/>
          <p:nvPr/>
        </p:nvSpPr>
        <p:spPr>
          <a:xfrm>
            <a:off x="134869" y="3719987"/>
            <a:ext cx="2129400" cy="1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Group 2: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Sree M. Elancheralathan 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Anushree Balakrishnan 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Sana Jradi 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Michael Storm 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-"/>
            </a:pPr>
            <a:r>
              <a:rPr b="0" i="0" lang="e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Luis Cuneo 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9" name="Google Shape;239;p37"/>
          <p:cNvSpPr txBox="1"/>
          <p:nvPr>
            <p:ph type="ctrTitle"/>
          </p:nvPr>
        </p:nvSpPr>
        <p:spPr>
          <a:xfrm>
            <a:off x="1334236" y="2671887"/>
            <a:ext cx="608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1" lang="es"/>
              <a:t>Way Forward</a:t>
            </a:r>
            <a:endParaRPr b="1"/>
          </a:p>
        </p:txBody>
      </p:sp>
      <p:sp>
        <p:nvSpPr>
          <p:cNvPr id="240" name="Google Shape;240;p37"/>
          <p:cNvSpPr txBox="1"/>
          <p:nvPr/>
        </p:nvSpPr>
        <p:spPr>
          <a:xfrm>
            <a:off x="1334236" y="593739"/>
            <a:ext cx="60876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"/>
              <a:buNone/>
            </a:pPr>
            <a:r>
              <a:rPr b="1" i="0" lang="es" sz="4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ENIAC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257675" y="497675"/>
            <a:ext cx="40452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Objective</a:t>
            </a:r>
            <a:endParaRPr/>
          </a:p>
        </p:txBody>
      </p:sp>
      <p:sp>
        <p:nvSpPr>
          <p:cNvPr id="246" name="Google Shape;246;p38"/>
          <p:cNvSpPr txBox="1"/>
          <p:nvPr>
            <p:ph idx="2" type="body"/>
          </p:nvPr>
        </p:nvSpPr>
        <p:spPr>
          <a:xfrm>
            <a:off x="4747700" y="629675"/>
            <a:ext cx="42279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b="1" lang="es" sz="2400" u="sng"/>
              <a:t>Expansion</a:t>
            </a:r>
            <a:r>
              <a:rPr lang="es" sz="2400"/>
              <a:t> into Brazilian market within next year</a:t>
            </a:r>
            <a:endParaRPr sz="2400"/>
          </a:p>
        </p:txBody>
      </p:sp>
      <p:sp>
        <p:nvSpPr>
          <p:cNvPr id="247" name="Google Shape;247;p38"/>
          <p:cNvSpPr txBox="1"/>
          <p:nvPr>
            <p:ph type="title"/>
          </p:nvPr>
        </p:nvSpPr>
        <p:spPr>
          <a:xfrm>
            <a:off x="257675" y="1920025"/>
            <a:ext cx="40452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Challenge</a:t>
            </a:r>
            <a:endParaRPr/>
          </a:p>
        </p:txBody>
      </p:sp>
      <p:sp>
        <p:nvSpPr>
          <p:cNvPr id="248" name="Google Shape;248;p38"/>
          <p:cNvSpPr txBox="1"/>
          <p:nvPr>
            <p:ph idx="2" type="body"/>
          </p:nvPr>
        </p:nvSpPr>
        <p:spPr>
          <a:xfrm>
            <a:off x="4790750" y="1986025"/>
            <a:ext cx="4141800" cy="7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b="1" lang="es" sz="2400" u="sng"/>
              <a:t>Lack of knowledge</a:t>
            </a:r>
            <a:r>
              <a:rPr lang="es" sz="2400"/>
              <a:t> of Brazilian market</a:t>
            </a:r>
            <a:endParaRPr sz="2400"/>
          </a:p>
        </p:txBody>
      </p:sp>
      <p:sp>
        <p:nvSpPr>
          <p:cNvPr id="249" name="Google Shape;249;p38"/>
          <p:cNvSpPr txBox="1"/>
          <p:nvPr>
            <p:ph type="title"/>
          </p:nvPr>
        </p:nvSpPr>
        <p:spPr>
          <a:xfrm>
            <a:off x="394425" y="3287575"/>
            <a:ext cx="40452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Approach</a:t>
            </a:r>
            <a:endParaRPr/>
          </a:p>
        </p:txBody>
      </p:sp>
      <p:sp>
        <p:nvSpPr>
          <p:cNvPr id="250" name="Google Shape;250;p38"/>
          <p:cNvSpPr txBox="1"/>
          <p:nvPr>
            <p:ph idx="2" type="body"/>
          </p:nvPr>
        </p:nvSpPr>
        <p:spPr>
          <a:xfrm>
            <a:off x="4747700" y="3420650"/>
            <a:ext cx="41418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2400"/>
              <a:t>3-year contract with </a:t>
            </a:r>
            <a:r>
              <a:rPr b="1" lang="es" sz="2400" u="sng"/>
              <a:t>Magist</a:t>
            </a:r>
            <a:r>
              <a:rPr lang="es" sz="2400"/>
              <a:t> </a:t>
            </a:r>
            <a:endParaRPr/>
          </a:p>
        </p:txBody>
      </p:sp>
      <p:sp>
        <p:nvSpPr>
          <p:cNvPr id="251" name="Google Shape;251;p3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9"/>
          <p:cNvSpPr txBox="1"/>
          <p:nvPr>
            <p:ph type="title"/>
          </p:nvPr>
        </p:nvSpPr>
        <p:spPr>
          <a:xfrm>
            <a:off x="249850" y="17895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Two main concerns</a:t>
            </a:r>
            <a:endParaRPr/>
          </a:p>
        </p:txBody>
      </p:sp>
      <p:sp>
        <p:nvSpPr>
          <p:cNvPr id="257" name="Google Shape;257;p39"/>
          <p:cNvSpPr txBox="1"/>
          <p:nvPr>
            <p:ph idx="2" type="body"/>
          </p:nvPr>
        </p:nvSpPr>
        <p:spPr>
          <a:xfrm>
            <a:off x="4955175" y="567600"/>
            <a:ext cx="38370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" sz="2400"/>
              <a:t>Magist Expertise:</a:t>
            </a:r>
            <a:r>
              <a:rPr b="1" lang="es" sz="2400" u="sng"/>
              <a:t> </a:t>
            </a:r>
            <a:endParaRPr b="1" sz="2400" u="sng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s" sz="2000"/>
              <a:t>Is Magist a good/right partner?</a:t>
            </a:r>
            <a:endParaRPr sz="2000"/>
          </a:p>
        </p:txBody>
      </p:sp>
      <p:sp>
        <p:nvSpPr>
          <p:cNvPr id="258" name="Google Shape;258;p39"/>
          <p:cNvSpPr txBox="1"/>
          <p:nvPr>
            <p:ph idx="2" type="body"/>
          </p:nvPr>
        </p:nvSpPr>
        <p:spPr>
          <a:xfrm>
            <a:off x="4955175" y="2465825"/>
            <a:ext cx="38370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s" sz="2400"/>
              <a:t>Magist Operations:</a:t>
            </a:r>
            <a:endParaRPr b="1" sz="2400"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rPr lang="es" sz="2000"/>
              <a:t>Are deliveries fast enough? / Customer Satisfaction?</a:t>
            </a:r>
            <a:endParaRPr sz="2000"/>
          </a:p>
        </p:txBody>
      </p:sp>
      <p:sp>
        <p:nvSpPr>
          <p:cNvPr id="259" name="Google Shape;259;p3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311700" y="29551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 u="sng"/>
              <a:t>Magist - Overview</a:t>
            </a:r>
            <a:endParaRPr u="sng"/>
          </a:p>
        </p:txBody>
      </p:sp>
      <p:sp>
        <p:nvSpPr>
          <p:cNvPr id="265" name="Google Shape;265;p4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6" name="Google Shape;26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85553"/>
            <a:ext cx="4353333" cy="38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0"/>
          <p:cNvSpPr txBox="1"/>
          <p:nvPr/>
        </p:nvSpPr>
        <p:spPr>
          <a:xfrm>
            <a:off x="4800450" y="3943200"/>
            <a:ext cx="3992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s" sz="2000" u="sng" cap="none" strike="noStrike">
                <a:solidFill>
                  <a:schemeClr val="hlink"/>
                </a:solidFill>
                <a:hlinkClick action="ppaction://hlinksldjump" r:id="rId4"/>
              </a:rPr>
              <a:t>Growth</a:t>
            </a:r>
            <a:r>
              <a:rPr i="0" lang="es" sz="2000" u="none" cap="none" strike="noStrike">
                <a:solidFill>
                  <a:schemeClr val="dk1"/>
                </a:solidFill>
              </a:rPr>
              <a:t> in the last 2 years (99k orders in total)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0"/>
          <p:cNvSpPr txBox="1"/>
          <p:nvPr/>
        </p:nvSpPr>
        <p:spPr>
          <a:xfrm>
            <a:off x="4800450" y="985550"/>
            <a:ext cx="3732900" cy="1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" sz="2000">
                <a:solidFill>
                  <a:schemeClr val="dk1"/>
                </a:solidFill>
              </a:rPr>
              <a:t>Well established company which covers the whole Brazilian territory.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40"/>
          <p:cNvSpPr txBox="1"/>
          <p:nvPr/>
        </p:nvSpPr>
        <p:spPr>
          <a:xfrm>
            <a:off x="4800450" y="2325900"/>
            <a:ext cx="3795600" cy="9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" sz="2000">
                <a:solidFill>
                  <a:schemeClr val="dk1"/>
                </a:solidFill>
              </a:rPr>
              <a:t>Wide range of products (+70 categories)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40"/>
          <p:cNvSpPr txBox="1"/>
          <p:nvPr/>
        </p:nvSpPr>
        <p:spPr>
          <a:xfrm>
            <a:off x="4800450" y="3228600"/>
            <a:ext cx="2301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s" sz="2000">
                <a:solidFill>
                  <a:schemeClr val="dk1"/>
                </a:solidFill>
              </a:rPr>
              <a:t>Economy of scale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/>
          <p:nvPr>
            <p:ph type="title"/>
          </p:nvPr>
        </p:nvSpPr>
        <p:spPr>
          <a:xfrm>
            <a:off x="311700" y="29551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 u="sng"/>
              <a:t>Magist – Marketplacement</a:t>
            </a:r>
            <a:endParaRPr u="sng"/>
          </a:p>
        </p:txBody>
      </p:sp>
      <p:sp>
        <p:nvSpPr>
          <p:cNvPr id="276" name="Google Shape;276;p4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77" name="Google Shape;27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0514" y="1028980"/>
            <a:ext cx="2575586" cy="2156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6100" y="966144"/>
            <a:ext cx="2904331" cy="228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41"/>
          <p:cNvSpPr txBox="1"/>
          <p:nvPr/>
        </p:nvSpPr>
        <p:spPr>
          <a:xfrm>
            <a:off x="604990" y="4276103"/>
            <a:ext cx="762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</a:rPr>
              <a:t>- </a:t>
            </a:r>
            <a:r>
              <a:rPr b="1" i="1" lang="es" sz="2400" u="none" cap="none" strike="noStrike">
                <a:solidFill>
                  <a:schemeClr val="dk1"/>
                </a:solidFill>
              </a:rPr>
              <a:t>N</a:t>
            </a:r>
            <a:r>
              <a:rPr b="1" i="1" lang="es" sz="2400">
                <a:solidFill>
                  <a:schemeClr val="dk1"/>
                </a:solidFill>
              </a:rPr>
              <a:t>o</a:t>
            </a:r>
            <a:r>
              <a:rPr b="1" i="1" lang="es" sz="2400" u="none" cap="none" strike="noStrike">
                <a:solidFill>
                  <a:schemeClr val="dk1"/>
                </a:solidFill>
              </a:rPr>
              <a:t> in-depth</a:t>
            </a:r>
            <a:r>
              <a:rPr b="1" i="1" lang="es" sz="2400">
                <a:solidFill>
                  <a:schemeClr val="dk1"/>
                </a:solidFill>
              </a:rPr>
              <a:t> expertise</a:t>
            </a:r>
            <a:r>
              <a:rPr b="1" i="1" lang="es" sz="2400" u="none" cap="none" strike="noStrike">
                <a:solidFill>
                  <a:schemeClr val="dk1"/>
                </a:solidFill>
              </a:rPr>
              <a:t> in High</a:t>
            </a:r>
            <a:r>
              <a:rPr b="1" i="1" lang="es" sz="2400">
                <a:solidFill>
                  <a:schemeClr val="dk1"/>
                </a:solidFill>
              </a:rPr>
              <a:t>-</a:t>
            </a:r>
            <a:r>
              <a:rPr b="1" i="1" lang="es" sz="2400" u="none" cap="none" strike="noStrike">
                <a:solidFill>
                  <a:schemeClr val="dk1"/>
                </a:solidFill>
              </a:rPr>
              <a:t>Tech products -</a:t>
            </a:r>
            <a:endParaRPr b="1" i="1" sz="2400" u="none" cap="none" strike="noStrike">
              <a:solidFill>
                <a:schemeClr val="dk1"/>
              </a:solidFill>
            </a:endParaRPr>
          </a:p>
        </p:txBody>
      </p:sp>
      <p:pic>
        <p:nvPicPr>
          <p:cNvPr id="280" name="Google Shape;28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8023" y="3248128"/>
            <a:ext cx="903271" cy="77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5823" y="3246465"/>
            <a:ext cx="903271" cy="77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183" y="1054248"/>
            <a:ext cx="2918787" cy="233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3934" y="3248127"/>
            <a:ext cx="903271" cy="77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2"/>
          <p:cNvSpPr txBox="1"/>
          <p:nvPr>
            <p:ph type="title"/>
          </p:nvPr>
        </p:nvSpPr>
        <p:spPr>
          <a:xfrm>
            <a:off x="311700" y="29551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 u="sng"/>
              <a:t>Magist – Marketplacement </a:t>
            </a:r>
            <a:endParaRPr u="sng"/>
          </a:p>
        </p:txBody>
      </p:sp>
      <p:sp>
        <p:nvSpPr>
          <p:cNvPr id="289" name="Google Shape;289;p4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90" name="Google Shape;290;p42"/>
          <p:cNvSpPr txBox="1"/>
          <p:nvPr/>
        </p:nvSpPr>
        <p:spPr>
          <a:xfrm>
            <a:off x="69813" y="4189500"/>
            <a:ext cx="833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</a:rPr>
              <a:t>- Customers mainly focus on low-range price products -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1" name="Google Shape;291;p42"/>
          <p:cNvGraphicFramePr/>
          <p:nvPr/>
        </p:nvGraphicFramePr>
        <p:xfrm>
          <a:off x="200864" y="10795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{B914D83C-1870-4E75-8305-DD5AF184B6D3}</a:tableStyleId>
              </a:tblPr>
              <a:tblGrid>
                <a:gridCol w="2691625"/>
                <a:gridCol w="2691625"/>
                <a:gridCol w="2691625"/>
              </a:tblGrid>
              <a:tr h="433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2000" u="sng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CONCEPT</a:t>
                      </a:r>
                      <a:endParaRPr b="1" i="0" sz="2000" u="sng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2000" u="sng" cap="none" strike="noStrike">
                          <a:solidFill>
                            <a:schemeClr val="dk1"/>
                          </a:solidFill>
                        </a:rPr>
                        <a:t>ENIAC</a:t>
                      </a:r>
                      <a:endParaRPr b="1" sz="2000" u="sng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2000" u="sng" cap="none" strike="noStrike">
                          <a:solidFill>
                            <a:schemeClr val="dk1"/>
                          </a:solidFill>
                        </a:rPr>
                        <a:t>MAGIST</a:t>
                      </a:r>
                      <a:endParaRPr b="1" sz="2000" u="sng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u="none" cap="none" strike="noStrike">
                          <a:solidFill>
                            <a:schemeClr val="dk1"/>
                          </a:solidFill>
                        </a:rPr>
                        <a:t>Avg Item Price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600" u="none" cap="none" strike="noStrike">
                          <a:solidFill>
                            <a:schemeClr val="dk1"/>
                          </a:solidFill>
                        </a:rPr>
                        <a:t>540 </a:t>
                      </a:r>
                      <a:r>
                        <a:rPr b="0" lang="es" sz="1600" u="none" cap="none" strike="noStrike">
                          <a:solidFill>
                            <a:schemeClr val="dk1"/>
                          </a:solidFill>
                        </a:rPr>
                        <a:t>€/item</a:t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" sz="1600" u="none" cap="none" strike="noStrike">
                          <a:solidFill>
                            <a:schemeClr val="dk1"/>
                          </a:solidFill>
                        </a:rPr>
                        <a:t>110 </a:t>
                      </a:r>
                      <a:r>
                        <a:rPr b="0" lang="es" sz="1600" u="none" cap="none" strike="noStrike">
                          <a:solidFill>
                            <a:schemeClr val="dk1"/>
                          </a:solidFill>
                        </a:rPr>
                        <a:t>€/item</a:t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u="none" cap="none" strike="noStrike">
                          <a:solidFill>
                            <a:schemeClr val="dk1"/>
                          </a:solidFill>
                        </a:rPr>
                        <a:t>Avg Order Value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" sz="1600" u="none" cap="none" strike="noStrike">
                          <a:solidFill>
                            <a:schemeClr val="dk1"/>
                          </a:solidFill>
                        </a:rPr>
                        <a:t>710 </a:t>
                      </a:r>
                      <a:r>
                        <a:rPr b="0" lang="es" sz="1600" u="none" cap="none" strike="noStrike">
                          <a:solidFill>
                            <a:schemeClr val="dk1"/>
                          </a:solidFill>
                        </a:rPr>
                        <a:t>€</a:t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" sz="1600" u="none" cap="none" strike="noStrike">
                          <a:solidFill>
                            <a:schemeClr val="dk1"/>
                          </a:solidFill>
                        </a:rPr>
                        <a:t>140 </a:t>
                      </a:r>
                      <a:r>
                        <a:rPr b="0" lang="es" sz="1600" u="none" cap="none" strike="noStrike">
                          <a:solidFill>
                            <a:schemeClr val="dk1"/>
                          </a:solidFill>
                        </a:rPr>
                        <a:t>€</a:t>
                      </a:r>
                      <a:endParaRPr b="0"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  <p:pic>
        <p:nvPicPr>
          <p:cNvPr id="292" name="Google Shape;29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9029" y="1451050"/>
            <a:ext cx="903271" cy="77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9029" y="2326994"/>
            <a:ext cx="903271" cy="77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9028" y="3227995"/>
            <a:ext cx="903271" cy="7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2"/>
          <p:cNvSpPr/>
          <p:nvPr/>
        </p:nvSpPr>
        <p:spPr>
          <a:xfrm>
            <a:off x="5160818" y="2365450"/>
            <a:ext cx="914400" cy="914400"/>
          </a:xfrm>
          <a:prstGeom prst="irregularSeal1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5x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2"/>
          <p:cNvSpPr/>
          <p:nvPr/>
        </p:nvSpPr>
        <p:spPr>
          <a:xfrm>
            <a:off x="5160818" y="1451050"/>
            <a:ext cx="914400" cy="914400"/>
          </a:xfrm>
          <a:prstGeom prst="irregularSeal1">
            <a:avLst/>
          </a:prstGeom>
          <a:solidFill>
            <a:schemeClr val="lt1"/>
          </a:solidFill>
          <a:ln cap="flat" cmpd="sng" w="127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5x</a:t>
            </a:r>
            <a:endParaRPr b="1" i="0" sz="2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2"/>
          <p:cNvSpPr txBox="1"/>
          <p:nvPr/>
        </p:nvSpPr>
        <p:spPr>
          <a:xfrm>
            <a:off x="681100" y="3391350"/>
            <a:ext cx="693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</a:t>
            </a:r>
            <a:r>
              <a:rPr b="1" i="0" lang="es" sz="20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3%</a:t>
            </a: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MAGIST´s customers </a:t>
            </a:r>
            <a:r>
              <a:rPr lang="es">
                <a:solidFill>
                  <a:schemeClr val="dk1"/>
                </a:solidFill>
              </a:rPr>
              <a:t>belong to a </a:t>
            </a:r>
            <a:r>
              <a:rPr lang="es" u="sng">
                <a:solidFill>
                  <a:schemeClr val="hlink"/>
                </a:solidFill>
                <a:hlinkClick action="ppaction://hlinksldjump" r:id="rId4"/>
              </a:rPr>
              <a:t>“VERY EXPENSIVE”</a:t>
            </a:r>
            <a:r>
              <a:rPr lang="es">
                <a:solidFill>
                  <a:schemeClr val="dk1"/>
                </a:solidFill>
              </a:rPr>
              <a:t> segment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3"/>
          <p:cNvSpPr txBox="1"/>
          <p:nvPr>
            <p:ph type="title"/>
          </p:nvPr>
        </p:nvSpPr>
        <p:spPr>
          <a:xfrm>
            <a:off x="311700" y="29551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 u="sng"/>
              <a:t>Magist – Operational Performance</a:t>
            </a:r>
            <a:endParaRPr u="sng"/>
          </a:p>
        </p:txBody>
      </p:sp>
      <p:sp>
        <p:nvSpPr>
          <p:cNvPr id="303" name="Google Shape;303;p4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4" name="Google Shape;30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119" y="997504"/>
            <a:ext cx="3768464" cy="3148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9481" y="997504"/>
            <a:ext cx="3680950" cy="3214009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/>
          <p:nvPr/>
        </p:nvSpPr>
        <p:spPr>
          <a:xfrm>
            <a:off x="1489364" y="1198418"/>
            <a:ext cx="346363" cy="290946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3172691" y="1198418"/>
            <a:ext cx="346363" cy="290946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7236" y="1845081"/>
            <a:ext cx="836072" cy="58881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3"/>
          <p:cNvSpPr txBox="1"/>
          <p:nvPr/>
        </p:nvSpPr>
        <p:spPr>
          <a:xfrm>
            <a:off x="2110757" y="1258531"/>
            <a:ext cx="8360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90%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 txBox="1"/>
          <p:nvPr/>
        </p:nvSpPr>
        <p:spPr>
          <a:xfrm>
            <a:off x="2024890" y="2709603"/>
            <a:ext cx="8360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12,5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1423542" y="2571750"/>
            <a:ext cx="346363" cy="290946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3"/>
          <p:cNvSpPr/>
          <p:nvPr/>
        </p:nvSpPr>
        <p:spPr>
          <a:xfrm>
            <a:off x="3172690" y="2604508"/>
            <a:ext cx="346363" cy="290946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7236" y="3203527"/>
            <a:ext cx="836072" cy="66994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3"/>
          <p:cNvSpPr txBox="1"/>
          <p:nvPr/>
        </p:nvSpPr>
        <p:spPr>
          <a:xfrm>
            <a:off x="5609313" y="2709602"/>
            <a:ext cx="10106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&gt;15%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3"/>
          <p:cNvSpPr/>
          <p:nvPr/>
        </p:nvSpPr>
        <p:spPr>
          <a:xfrm>
            <a:off x="5500255" y="3117273"/>
            <a:ext cx="1119701" cy="1028723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6982691" y="1153054"/>
            <a:ext cx="1724891" cy="2992942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3"/>
          <p:cNvSpPr txBox="1"/>
          <p:nvPr/>
        </p:nvSpPr>
        <p:spPr>
          <a:xfrm>
            <a:off x="7028665" y="1972233"/>
            <a:ext cx="101064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~75%</a:t>
            </a:r>
            <a:endParaRPr b="1" i="0" sz="2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6685" y="1582758"/>
            <a:ext cx="903271" cy="7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3"/>
          <p:cNvSpPr txBox="1"/>
          <p:nvPr/>
        </p:nvSpPr>
        <p:spPr>
          <a:xfrm>
            <a:off x="367136" y="4240190"/>
            <a:ext cx="7629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</a:rPr>
              <a:t>- Overall Operational Performance below ENIAC´s standards -</a:t>
            </a:r>
            <a:endParaRPr i="0" sz="14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 sz="3800"/>
              <a:t>Recommendation</a:t>
            </a:r>
            <a:endParaRPr sz="3800"/>
          </a:p>
        </p:txBody>
      </p:sp>
      <p:sp>
        <p:nvSpPr>
          <p:cNvPr id="325" name="Google Shape;325;p44"/>
          <p:cNvSpPr txBox="1"/>
          <p:nvPr>
            <p:ph idx="2" type="body"/>
          </p:nvPr>
        </p:nvSpPr>
        <p:spPr>
          <a:xfrm>
            <a:off x="4916000" y="242700"/>
            <a:ext cx="383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b="1" lang="es" sz="2200" u="sng"/>
              <a:t>Not to sign</a:t>
            </a:r>
            <a:r>
              <a:rPr lang="es" sz="2200"/>
              <a:t> a 3-year contract with MAGIST as is.</a:t>
            </a:r>
            <a:endParaRPr sz="2200"/>
          </a:p>
        </p:txBody>
      </p:sp>
      <p:sp>
        <p:nvSpPr>
          <p:cNvPr id="326" name="Google Shape;326;p4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27" name="Google Shape;327;p44"/>
          <p:cNvSpPr txBox="1"/>
          <p:nvPr>
            <p:ph idx="2" type="body"/>
          </p:nvPr>
        </p:nvSpPr>
        <p:spPr>
          <a:xfrm>
            <a:off x="4916000" y="1385700"/>
            <a:ext cx="38370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b="1" lang="es" sz="2200" u="sng"/>
              <a:t>Find an alternative</a:t>
            </a:r>
            <a:r>
              <a:rPr lang="es" sz="2200"/>
              <a:t> company who better fits ENIAC´s standards and values.</a:t>
            </a:r>
            <a:endParaRPr sz="2200"/>
          </a:p>
        </p:txBody>
      </p:sp>
      <p:sp>
        <p:nvSpPr>
          <p:cNvPr id="328" name="Google Shape;328;p44"/>
          <p:cNvSpPr txBox="1"/>
          <p:nvPr>
            <p:ph idx="2" type="body"/>
          </p:nvPr>
        </p:nvSpPr>
        <p:spPr>
          <a:xfrm>
            <a:off x="4916000" y="2959275"/>
            <a:ext cx="38370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s" sz="2200"/>
              <a:t>Where not possible, </a:t>
            </a:r>
            <a:r>
              <a:rPr b="1" lang="es" sz="2200" u="sng"/>
              <a:t>renegotiate</a:t>
            </a:r>
            <a:r>
              <a:rPr lang="es" sz="2200"/>
              <a:t> MAGIST´s contract on yearly basis. </a:t>
            </a:r>
            <a:endParaRPr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Thank You</a:t>
            </a:r>
            <a:endParaRPr/>
          </a:p>
        </p:txBody>
      </p:sp>
      <p:sp>
        <p:nvSpPr>
          <p:cNvPr id="334" name="Google Shape;334;p4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5" name="Google Shape;335;p45"/>
          <p:cNvSpPr txBox="1"/>
          <p:nvPr/>
        </p:nvSpPr>
        <p:spPr>
          <a:xfrm>
            <a:off x="598100" y="3323656"/>
            <a:ext cx="7319773" cy="6733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Group 2: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Sree M. Elancheralathan - Anushree Balakrishnan - Sana Jradi - Michael Storm - Luis Cuneo 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"/>
              <a:t>Backup</a:t>
            </a:r>
            <a:endParaRPr/>
          </a:p>
        </p:txBody>
      </p:sp>
      <p:sp>
        <p:nvSpPr>
          <p:cNvPr id="341" name="Google Shape;341;p4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47" name="Google Shape;347;p47"/>
          <p:cNvSpPr txBox="1"/>
          <p:nvPr>
            <p:ph type="title"/>
          </p:nvPr>
        </p:nvSpPr>
        <p:spPr>
          <a:xfrm>
            <a:off x="123825" y="232885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 sz="3000"/>
              <a:t>ENIAC - Fact &amp; Figures</a:t>
            </a:r>
            <a:r>
              <a:rPr lang="es" u="sng"/>
              <a:t> </a:t>
            </a:r>
            <a:endParaRPr u="sng"/>
          </a:p>
        </p:txBody>
      </p:sp>
      <p:pic>
        <p:nvPicPr>
          <p:cNvPr id="348" name="Google Shape;34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00" y="2206525"/>
            <a:ext cx="8820350" cy="211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gistOverview" id="353" name="Google Shape;3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269" y="0"/>
            <a:ext cx="82334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siness Category_D1" id="358" name="Google Shape;35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6340" y="0"/>
            <a:ext cx="397132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64" name="Google Shape;364;p50"/>
          <p:cNvSpPr txBox="1"/>
          <p:nvPr>
            <p:ph type="title"/>
          </p:nvPr>
        </p:nvSpPr>
        <p:spPr>
          <a:xfrm>
            <a:off x="123825" y="232885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 sz="3000"/>
              <a:t>Magist Tech Categories (9 out of 74)</a:t>
            </a:r>
            <a:r>
              <a:rPr lang="es" u="sng"/>
              <a:t> </a:t>
            </a:r>
            <a:endParaRPr u="sng"/>
          </a:p>
        </p:txBody>
      </p:sp>
      <p:pic>
        <p:nvPicPr>
          <p:cNvPr id="365" name="Google Shape;36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675" y="1525460"/>
            <a:ext cx="491490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71" name="Google Shape;37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050" y="1271900"/>
            <a:ext cx="7442825" cy="31513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51"/>
          <p:cNvSpPr txBox="1"/>
          <p:nvPr>
            <p:ph type="title"/>
          </p:nvPr>
        </p:nvSpPr>
        <p:spPr>
          <a:xfrm>
            <a:off x="123825" y="232885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 sz="3000"/>
              <a:t>Magist Growth</a:t>
            </a:r>
            <a:r>
              <a:rPr lang="es"/>
              <a:t> </a:t>
            </a:r>
            <a:r>
              <a:rPr lang="es" sz="3000"/>
              <a:t>(2016 - 2018)</a:t>
            </a:r>
            <a:r>
              <a:rPr lang="es" u="sng"/>
              <a:t> </a:t>
            </a:r>
            <a:endParaRPr u="sng"/>
          </a:p>
        </p:txBody>
      </p:sp>
      <p:sp>
        <p:nvSpPr>
          <p:cNvPr id="373" name="Google Shape;373;p51"/>
          <p:cNvSpPr txBox="1"/>
          <p:nvPr/>
        </p:nvSpPr>
        <p:spPr>
          <a:xfrm>
            <a:off x="7875725" y="4572925"/>
            <a:ext cx="681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action="ppaction://hlinksldjump" r:id="rId4"/>
              </a:rPr>
              <a:t>BACK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gist Growth" id="378" name="Google Shape;37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506" y="0"/>
            <a:ext cx="681898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ch Orders_D1" id="383" name="Google Shape;3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078" y="0"/>
            <a:ext cx="769384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ch Revenue_D1" id="388" name="Google Shape;38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078" y="0"/>
            <a:ext cx="769384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1" id="393" name="Google Shape;39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7435" y="0"/>
            <a:ext cx="774912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gist vs Eniac: Marketplacement" id="398" name="Google Shape;39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269" y="0"/>
            <a:ext cx="82334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gist Vs Eniacs Item Price" id="403" name="Google Shape;40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831" y="0"/>
            <a:ext cx="67703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gist Vs Eniacs Order Value" id="408" name="Google Shape;40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6831" y="0"/>
            <a:ext cx="677033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14" name="Google Shape;414;p59"/>
          <p:cNvSpPr txBox="1"/>
          <p:nvPr>
            <p:ph type="title"/>
          </p:nvPr>
        </p:nvSpPr>
        <p:spPr>
          <a:xfrm>
            <a:off x="123825" y="232885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 sz="3000"/>
              <a:t>Magist Tech Products - Segmentation</a:t>
            </a:r>
            <a:r>
              <a:rPr lang="es" u="sng"/>
              <a:t> </a:t>
            </a:r>
            <a:endParaRPr u="sng"/>
          </a:p>
        </p:txBody>
      </p:sp>
      <p:pic>
        <p:nvPicPr>
          <p:cNvPr id="415" name="Google Shape;41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00" y="1173385"/>
            <a:ext cx="741045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59"/>
          <p:cNvSpPr txBox="1"/>
          <p:nvPr/>
        </p:nvSpPr>
        <p:spPr>
          <a:xfrm>
            <a:off x="7883575" y="4651200"/>
            <a:ext cx="681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action="ppaction://hlinksldjump" r:id="rId4"/>
              </a:rPr>
              <a:t>BACK</a:t>
            </a:r>
            <a:endParaRPr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perational Performance" id="421" name="Google Shape;42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269" y="0"/>
            <a:ext cx="823346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ustomer Reviews_D2" id="426" name="Google Shape;42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902" y="0"/>
            <a:ext cx="518019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nTimeDelivery_D2" id="431" name="Google Shape;431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135" y="0"/>
            <a:ext cx="768772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ystoDeliver_D2" id="436" name="Google Shape;43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8135" y="0"/>
            <a:ext cx="768772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